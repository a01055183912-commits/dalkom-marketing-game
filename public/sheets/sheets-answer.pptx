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8.xml" ContentType="application/vnd.openxmlformats-officedocument.presentationml.slide+xml"/>
  <Override PartName="/ppt/slides/slide58.xml" ContentType="application/vnd.openxmlformats-officedocument.presentationml.slide+xml"/>
  <Override PartName="/ppt/slides/slide85.xml" ContentType="application/vnd.openxmlformats-officedocument.presentationml.slide+xml"/>
  <Override PartName="/ppt/slides/slide91.xml" ContentType="application/vnd.openxmlformats-officedocument.presentationml.slide+xml"/>
  <Override PartName="/ppt/slides/slide98.xml" ContentType="application/vnd.openxmlformats-officedocument.presentationml.slide+xml"/>
  <Override PartName="/ppt/slides/slide103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645" r:id="rId28"/>
    <p:sldId id="1651" r:id="rId44"/>
    <p:sldId id="1652" r:id="rId49"/>
    <p:sldId id="1659" r:id="rId59"/>
    <p:sldId id="1661" r:id="rId86"/>
    <p:sldId id="1663" r:id="rId92"/>
    <p:sldId id="1664" r:id="rId99"/>
    <p:sldId id="1666" r:id="rId104"/>
    <p:sldId id="1668" r:id="rId1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192" Type="http://schemas.openxmlformats.org/officeDocument/2006/relationships/tableStyles" Target="tableStyles.xml"/><Relationship Id="rId59" Type="http://schemas.openxmlformats.org/officeDocument/2006/relationships/slide" Target="slides/slide58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04" Type="http://schemas.openxmlformats.org/officeDocument/2006/relationships/slide" Target="slides/slide103.xml"/><Relationship Id="rId188" Type="http://schemas.openxmlformats.org/officeDocument/2006/relationships/notesMaster" Target="notesMasters/notesMaster1.xml"/><Relationship Id="rId92" Type="http://schemas.openxmlformats.org/officeDocument/2006/relationships/slide" Target="slides/slide91.xml"/><Relationship Id="rId110" Type="http://schemas.openxmlformats.org/officeDocument/2006/relationships/slide" Target="slides/slide109.xml"/><Relationship Id="rId189" Type="http://schemas.openxmlformats.org/officeDocument/2006/relationships/presProps" Target="presProps.xml"/><Relationship Id="rId190" Type="http://schemas.openxmlformats.org/officeDocument/2006/relationships/viewProps" Target="viewProps.xml"/><Relationship Id="rId99" Type="http://schemas.openxmlformats.org/officeDocument/2006/relationships/slide" Target="slides/slide9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①  고객 세분화 기준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네 가지 기준으로 백화점 고객을 나누고, 가장 유효한 기준을 고르십시오.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719072"/>
          <a:ext cx="11210542" cy="36027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6280"/>
                <a:gridCol w="2734279"/>
                <a:gridCol w="3098849"/>
                <a:gridCol w="328113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세분화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우리가 쓸 구체적 변수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나뉘는 세그먼트 (2~3개)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기준이 유효한 이유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인구통계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가구 구성 · 자녀 유무,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성인 가구원 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① 1인 가구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② 자녀 동거 가구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③ 성인만 사는 다인 가구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구성 수량과 개별 포장 선호가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달라집니다.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지역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출발지에서 식품관까지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이동 시간 (10분 이내 / 11~30분 / 30분 초과)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① 가까운 직장 · 거주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② 부산 시내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③ 원거리 · 여행 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수령 시간과 들고 가는 방식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(휴대 포장)이 달라집니다.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행동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이번 구매의 주된 목적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(짧은 질문으로 확인)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빠른 한 끼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B 재료 선택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 함께 나눔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· 수량 · 포장 · 예약 수령이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바로 달라집니다.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심리 · 라이프스타일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고를 때 가장 중요하게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보는 것 (질문)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① 편의 중시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② 재료 중시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③ 대접 중시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안내 문구에서 먼저 말할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장점이 달라집니다.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93776" y="5468112"/>
            <a:ext cx="11210544" cy="329184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좋은 세분화의 조건 · 집단 안은 비슷하고(동질성), 집단 사이는 다르며(이질성), 각 집단에 다르게 접근할 수 있어야(접근 가능성) 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5852160"/>
            <a:ext cx="112105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네 기준 중 우리에게 가장 유효한 것과 그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6108192"/>
            <a:ext cx="11210544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선택: 행동 기준(이번 구매의 주된 목적)   ① 짧은 질문으로 바로 확인할 수 있습니다.  ② 목적에 따라 구성 · 포장 · 수령 방식이 바로 달라집니다.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③ 구매 개수만으로 목적을 단정하지 않고, 구매 시간 · 수량은 보조 정보로 씁니다.  ④ 실습 ②에는 A · B · C를 그대로 옮깁니다.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②  세분시장 평가와 표적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세 개 세그먼트를 같은 기준으로 점수화하고 하나를 고르십시오. 점수의 근거는 DART · 공식 사이트 등 실제 자료로 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691640"/>
          <a:ext cx="11210544" cy="29626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/>
                <a:gridCol w="1645920"/>
                <a:gridCol w="1645920"/>
                <a:gridCol w="1645920"/>
                <a:gridCol w="407822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평가 항목 (각 5점)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A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빠른 한 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B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재료 선택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C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함께 나눔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판단 근거 (강의 제공 가상 자료)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시장 규모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예상 구매 기회: 하루 120 / 70 / 40건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성장 잠재력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수요 증가율 가정: 5% / 12% / 8%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경쟁 강도 (낮을수록 높은 점수)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직접 비교할 대안: 8개 / 4개 / 2개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(대안이 적을수록 높은 점수)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자사와의 적합성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빠른 제조 · 재료 설명은 보통,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개별 포장 · 예약 수령은 준비된 강점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수익성 (객단가 · 빈도)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1회 매출총이익 약 4,100 / 5,200 /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15,400원 (원가율 45% 가정)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총점 (25점)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C(함께 나눔)를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1순위 표적으로 선정합니다.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" y="4800600"/>
          <a:ext cx="11210543" cy="17556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31520"/>
                <a:gridCol w="810158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표적화 전략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선택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전략을 고른 이유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비차별적 · 전체를 하나로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· B · C의 구매 목적이 달라 같은 구성과 메시지로 모두에게 맞추기 어렵습니다.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차별적 · 여러 세그먼트에 각각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2주 팝업에서 세 가지 구성과 수령 서비스를 동시에 운영할 인력 · 매대가 부족합니다.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집중 · 하나에 자원 몰기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 19점, 개별 포장 · 예약 수령 강점을 근거로 회의 · 모임 간식을 준비하는 고객에 집중합니다.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⑦  STP + CRM 통합 기획안 (원페이퍼)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앞선 워크시트를 옮겨 담고, 두 축이 어떻게 이어지는지 적으십시오.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45분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691640"/>
          <a:ext cx="11210543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406640"/>
                <a:gridCol w="142646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구성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가져올 워크시트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1. 시장 세분화 결과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이번 구매의 주된 목적을 질문해 A 빠른 한 끼 · B 재료 선택 · C 함께 나눔으로 나눴습니다. 목적에 따라 구성 · 포장 · 수령 방식이 달라집니다.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2. 표적 시장과 선정 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 함께 나눔(19점 / 25점)을 선택하고 집중 전략을 씁니다. 개별 포장 · 예약 수령 강점과 1회 이익 가정이 가장 유리합니다(강의 제공 가상 자료).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3. 포지셔닝 문장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회의 간식을 준비하는 고객에게, 우리 샌드위치는 개별 포장과 예약 수령 덕분에 ‘준비 부담을 줄여 주는 회의 간식 세트’이다. (4인 세트 28,000원 가정 · 단품 4개보다 2,000원 저렴)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포지셔닝 이론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4. 기존 고객 RFM 진단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A9A9A"/>
                          </a:solidFill>
                          <a:latin typeface="a고딕14"/>
                          <a:ea typeface="a고딕14"/>
                          <a:cs typeface="a고딕14"/>
                        </a:rPr>
                        <a:t>(8교시에 작성)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④ · ④-2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5. 세그먼트별 CRM 액션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A9A9A"/>
                          </a:solidFill>
                          <a:latin typeface="a고딕14"/>
                          <a:ea typeface="a고딕14"/>
                          <a:cs typeface="a고딕14"/>
                        </a:rPr>
                        <a:t>(8교시에 작성)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6. LTV 기반 예산 배분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A9A9A"/>
                          </a:solidFill>
                          <a:latin typeface="a고딕14"/>
                          <a:ea typeface="a고딕14"/>
                          <a:cs typeface="a고딕14"/>
                        </a:rPr>
                        <a:t>(8교시에 작성)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7. 신규 획득과 기존 유지의 연결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A9A9A"/>
                          </a:solidFill>
                          <a:latin typeface="a고딕14"/>
                          <a:ea typeface="a고딕14"/>
                          <a:cs typeface="a고딕14"/>
                        </a:rPr>
                        <a:t>(8교시에 작성)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전체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 3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" name="Shape 4"/>
          <p:cNvSpPr txBox="1"/>
          <p:nvPr/>
        </p:nvSpPr>
        <p:spPr>
          <a:xfrm>
            <a:off x="621792" y="822960"/>
            <a:ext cx="85000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품평회 · 선택 결과 기록표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8900000" y="841248"/>
            <a:ext cx="1150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603C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sz="14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20분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1792" y="131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400" b="0">
                <a:solidFill>
                  <a:srgbClr val="595959"/>
                </a:solidFill>
                <a:latin typeface="a고딕14"/>
                <a:ea typeface="a고딕14"/>
                <a:cs typeface="a고딕14"/>
              </a:rPr>
              <a:t>받은 역할 카드의 고객이 되어 다른 조 상품 한 개를 고르거나 ‘미구매’를 고르고, 이유를 적으십시오.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21792" y="162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4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93776" y="2000000"/>
          <a:ext cx="11210544" cy="2300000"/>
        </p:xfrm>
        <a:graphic>
          <a:graphicData uri="http://schemas.openxmlformats.org/drawingml/2006/table">
            <a:tbl>
              <a:tblPr firstRow="1"/>
              <a:tblGrid>
                <a:gridCol w="2000000"/>
                <a:gridCol w="3200000"/>
                <a:gridCol w="3400000"/>
                <a:gridCol w="261054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 역할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선택 상품 또는 미구매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가장 큰 선택 이유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망설인 점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 함께 나눔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3조 · 나눔 박스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편의 (개별 포장)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4인분이 맞는지 헷갈림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빠른 한 끼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2조 · 한 끼 샌드위치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가격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양이 적어 보임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B 재료 선택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미구매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재료 표시가 없음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 함께 나눔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1조 · 회의 간식 4인 세트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편의 (예약 수령)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수령 시간이 회의와 맞을지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10"/>
          <p:cNvSpPr txBox="1"/>
          <p:nvPr/>
        </p:nvSpPr>
        <p:spPr>
          <a:xfrm>
            <a:off x="493776" y="4400000"/>
            <a:ext cx="11210544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6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우리 조 상품의 결과 (목표 고객 기준)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493776" y="4780000"/>
          <a:ext cx="11210544" cy="1040000"/>
        </p:xfrm>
        <a:graphic>
          <a:graphicData uri="http://schemas.openxmlformats.org/drawingml/2006/table">
            <a:tbl>
              <a:tblPr firstRow="1"/>
              <a:tblGrid>
                <a:gridCol w="1700000"/>
                <a:gridCol w="2300000"/>
                <a:gridCol w="1900000"/>
                <a:gridCol w="1800000"/>
                <a:gridCol w="351054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고객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투표 가능한 목표 역할 인원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역할이 고른 수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역할 선택률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고칠 점 한 가지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 함께 나눔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5명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4명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 ÷ 5 = 80%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‘회의 30분 전 예약 수령’을 안내문과 원페이퍼 3번에 추가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12"/>
          <p:cNvSpPr txBox="1"/>
          <p:nvPr/>
        </p:nvSpPr>
        <p:spPr>
          <a:xfrm>
            <a:off x="493776" y="6000000"/>
            <a:ext cx="11210544" cy="500000"/>
          </a:xfrm>
          <a:prstGeom prst="rect">
            <a:avLst/>
          </a:prstGeom>
          <a:solidFill>
            <a:srgbClr val="FCE9E5"/>
          </a:solidFill>
          <a:ln>
            <a:noFill/>
          </a:ln>
        </p:spPr>
        <p:txBody>
          <a:bodyPr wrap="square" lIns="137160" tIns="137160" rIns="137160" bIns="137160" anchor="ctr">
            <a:normAutofit/>
          </a:bodyPr>
          <a:lstStyle/>
          <a:p>
            <a:pPr algn="l"/>
            <a:r>
              <a:rPr lang="ko-KR" sz="14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읽는 법  </a:t>
            </a:r>
            <a:r>
              <a:rPr lang="ko-KR" sz="14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총득표보다 목표 역할의 선택과 이유를 봅니다. 자기 조 상품에는 투표할 수 없으므로 분모는 ‘투표 가능한 목표 역할 인원’입니다. 교실 선택은 실제 수요가 아닙니다.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④  RFM 점수 계산과 등급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케이스 데이터를 지표별로 정렬해 5분위로 나누고 점수를 매기십시오.  ※ 계산 연습용 가상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50분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691640"/>
          <a:ext cx="9555474" cy="3922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3807"/>
                <a:gridCol w="582651"/>
                <a:gridCol w="466120"/>
                <a:gridCol w="660338"/>
                <a:gridCol w="388434"/>
                <a:gridCol w="388434"/>
                <a:gridCol w="388434"/>
                <a:gridCol w="1359519"/>
                <a:gridCol w="543807"/>
                <a:gridCol w="582651"/>
                <a:gridCol w="466120"/>
                <a:gridCol w="660338"/>
                <a:gridCol w="388434"/>
                <a:gridCol w="388434"/>
                <a:gridCol w="388434"/>
                <a:gridCol w="1359519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경과일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횟수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금액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(만원)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F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경과일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횟수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금액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(만원)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F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4,200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최우수(VIP)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이탈 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우수 단골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2,900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우수 단골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5,600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최우수(VIP)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휴면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일반(성장 여지)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일반(성장 여지)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이탈 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일반(성장 여지)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2,400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우수 단골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휴면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휴면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최우수(VIP)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1,250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일반(성장 여지)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이탈 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최우수(VIP)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우수 단골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이탈 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휴면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149840" y="1691640"/>
            <a:ext cx="1600200" cy="3931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해석 포인트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· 이 데이터에는 R만 높고 F가 낮은 '신규 고액'이 없습니다. C15 · C14가 가장 가까우며 '성장 여지 있는 일반'으로 보는 편이 정확합니다.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· 합계보다 R을 먼저 봅니다. C11(합계 8)은 R2로 이탈 위험, C15(합계 10)는 R4로 성장 후보입니다.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· F 동점(C14 · C18 5회, C05 · C20 3회)은 금액이 큰 쪽을 앞에 둡니다.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5715000"/>
            <a:ext cx="11210544" cy="822960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계산 순서 · ① 경과일 오름차순 정렬 → 상위 4명씩 R5~R1   ② 구매횟수 내림차순 → F5~F1   ③ 구매금액 내림차순 → M5~M1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세그먼트 이름은 최우수 · 신규 고액 · 이탈 위험 우수 · 일반 · 휴면 중에서 고르거나 직접 지으십시오.   (R만 정렬 방향이 반대입니다!)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④-2  RFM 결과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점수를 매겼으면 그 결과가 무엇을 말하는지 읽어내십시오.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50분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691640"/>
          <a:ext cx="11210544" cy="25237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1463040"/>
                <a:gridCol w="3566160"/>
                <a:gridCol w="3438144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분석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해당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수치 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가장 시급한 조치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R · F · M 모두 5점인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C01, C03,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C09, C17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경과일 5~12일 · 16~22회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3,800~5,600만원, 4명 합계 1억 8,400만원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관계 유지가 먼저입니다. 선호를 확인하고,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식품관 관심이 맞으면 팝업 예약 구성 상담을 제안합니다.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최근에 왔지만 아직 빈도가 낮은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C15, C14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C15 22일 · 8회 · 1,600만원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C14 40일 · 5회 · 700만원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다음 구매 목적을 질문합니다. 함께 먹을 간식이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필요하면 4인 구성과 수령 방법을 안내합니다.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예전엔 우수했는데 최근 발길이 끊긴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확인 후보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C11, C18, C10, C05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(우선 C11)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C11 60일 · 6회 · 1,100만원 (R2 · F3 · M3)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과거 우수 여부는 이전 기간 기록으로 확인 필요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평소 구매 주기 · 최근 품목을 먼저 확인하고,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필요가 맞으면 팝업을 재접촉 계기로 씁니다.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회복 우선순위가 가장 낮은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C13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(다음 C16, C07)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300일 · 연 1회 · 150만원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R1 · F1 · M1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회복 가능성과 비용을 먼저 확인합니다. 관심 · 동의가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있으면 소규모로 안내하고 반응을 봅니다.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" y="4343400"/>
          <a:ext cx="11210542" cy="1481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2651759"/>
                <a:gridCol w="1645920"/>
                <a:gridCol w="416966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계산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계산식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값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여기서 읽히는 것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상위 4명의 구매금액 합계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5,600 + 4,800 + 4,200 + 3,800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1억 8,400만원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C03 · C17 · C01 · C09 네 명이 만든 금액입니다.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전체 대비 비중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18,400 ÷ 39,120 × 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47.0 %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고객 수 20%가 구매금액의 약 47%를 만듭니다.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하위 4명의 구매금액 합계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520 + 380 + 300 + 150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1,350만원 (3.5%)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하위 20%는 전체의 약 3.5%입니다.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3776" y="5943600"/>
            <a:ext cx="11210544" cy="502920"/>
          </a:xfrm>
          <a:prstGeom prst="rect">
            <a:avLst/>
          </a:prstGeom>
          <a:solidFill>
            <a:srgbClr val="F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5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47% 대 3.5%. 금액 차이는 관리 방식과 비용을 나누는 근거가 됩니다. 하위 고객을 버린다는 뜻은 아니며, RFM 점수만으로 샌드위치 취향이나 구매 목적을 정하지 않습니다.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⑤  세그먼트별 CRM 액션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등급마다 다른 목적과 다른 수단이 필요합니다. 남들 다 하는 할인 · 쿠폰 말고, 새로운 액션을 하나 이상 넣으십시오.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40분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691640"/>
          <a:ext cx="11210541" cy="35112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1807"/>
                <a:gridCol w="1464234"/>
                <a:gridCol w="3019983"/>
                <a:gridCol w="1418476"/>
                <a:gridCol w="1464234"/>
                <a:gridCol w="1921807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등급의 목적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구체적 액션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채널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비용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성과 지표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최우수 (VIP)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C01 · C03 · C09 · C17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관계 유지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선호 구성을 확인하고 샌드위치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예약 수령 상담 · 구성 체험 제안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희망 채널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(전화 · 메시지)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1인 8,000원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4명 3.2만원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팝업 2주 내 예약 이용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2명 / 대상 4명 = 50%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우수 단골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C02 · C06 · C12 · C19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관심 확대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선호 재료가 들어간 구성 체험,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예약 수령 방법 안내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동의한 앱 · 메시지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1인 6,000원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4명 2.4만원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2주 내 구매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2명 / 4명 = 50%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C05 · C10 · C11 · C18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상황 확인과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재접촉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구매 주기 · 품목 확인 후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간식 수요가 있으면 필요한 구성 제안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동의한 메시지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희망 시 전화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1인 5,000원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4명 2만원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30일 내 식품관 구매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1명 / 4명 = 25%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일반 (성장 여지)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C04 · C08 · C14 · C15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다음 구매 이유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만들기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구매 목적에 맞는 구성 안내,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소규모 체험 제안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동의한 앱 · 메시지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1인 4,000원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4명 1.6만원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30일 내 추가 구매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1명 / 4명 = 25%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휴면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C07 · C13 · C16 · C20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작은 비용으로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반응 확인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관심이 확인된 대상에게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팝업 안내 1회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동의한 앱 · 이메일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1인 2,000원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4명 0.8만원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2주 내 문의 · 예약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1명 / 4명 = 25%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" y="5239512"/>
            <a:ext cx="11210544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예산 배분 예시 · 최우수 3.2만원 · 우수 단골 2.4만원 · 이탈 위험 2만원 · 일반 1.6만원 · 휴면 0.8만원 · 합계 10만원 (조별 교육용 가정)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5550408"/>
            <a:ext cx="11210544" cy="292608"/>
          </a:xfrm>
          <a:prstGeom prst="rect">
            <a:avLst/>
          </a:prstGeom>
          <a:solidFill>
            <a:srgbClr val="F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2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개인정보 원칙에 비추어 문제가 될 수 있는 액션이 있는가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5870448"/>
            <a:ext cx="11210544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동의 없이 일괄 발송하거나, 구매 기록으로 민감한 개인 사정(임신 · 질병 · 종교 등)을 추정하는 액션은 제외합니다. 수신 동의한 목적 · 채널만 쓰고,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원치 않는 안내는 바로 중단하며, 야간(21~08시) 발송은 하지 않습니다.  ※ 교육용 개괄 안내이며 법률 자문이 아닙니다.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⑥  고객 생애가치 추정과 투자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등급별 LTV를 계산하고, 획득 · 유지 비용의 상한을 정하십시오.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691640"/>
          <a:ext cx="11210544" cy="21396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/>
                <a:gridCol w="1828800"/>
                <a:gridCol w="822960"/>
                <a:gridCol w="1371600"/>
                <a:gridCol w="1371600"/>
                <a:gridCol w="389534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연간 구매금액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GP율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유지 연수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LTV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쓸 수 있는 마케팅 비용 상한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최우수 (VIP)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4,600만원 (4명 평균)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5,750만원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575만원 (LTV의 10%)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5년간 검토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우수 단골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2,625만원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2,625만원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약 394만원 (LTV의 15%)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승급 가능성을 반영한 가정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880만원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440만원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88만원 (LTV의 20%)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유지 연수가 짧아 절대액은 작음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일반 (성장 여지)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1,337.5만원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약 1,003만원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약 100만원 (LTV의 10%)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성장 여지는 있으나 아직 미검증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" y="4206240"/>
          <a:ext cx="11210544" cy="23591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/>
                <a:gridCol w="791870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판단 질문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답변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 우수 고객 1명을 지키는 것과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신규 1명을 데려오는 것 중 어느 쪽이 이익인가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추정치로는 지키는 쪽이 유리해 보입니다. 이탈 위험 고객의 추정 LTV는 440만원이고 검토 상한은 88만원입니다.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다만 유지와 신규 유치의 실제 비용 · 성공 확률이 없어 확정할 수는 없습니다. 각 방법으로 늘어날 이익에서 추가 비용을 빼 비교해야 합니다.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휴면 고객 회복에 예산을 쓰지 않기로 한다면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그 근거는 무엇인가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회복으로 늘어날 이익보다 비용이 크다는 근거가 필요합니다. 휴면 4명의 매출 비중 3.5%만으로 회복 가치가 없다고 단정할 수는 없습니다.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그래서 실습 ⑤에서는 전면 중단 대신 0.8만원으로 반응을 먼저 봅니다.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유지 연수를 늘리려면 무엇을 해야 하는가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다시 구매할 이유를 만들고, 불만을 빨리 해결하고, 구매 주기에 맞춰 필요한 구성을 제안합니다.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샌드위치 첫 구매 뒤 식품관의 두 번째 구매를 확인합니다. 구매 없이 방문만 하면 이 실습의 R은 바뀌지 않습니다.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3776" y="3858768"/>
            <a:ext cx="11210544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LTV = 연간 구매금액 × GP율 × 예상 유지 연수     연간 구매금액 = 실습④ 등급별 4명 평균, GP율 25%로 통일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⑦  STP + CRM 통합 기획안 (원페이퍼)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앞선 워크시트를 옮겨 담고, 두 축이 어떻게 이어지는지 적으십시오.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45분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841248"/>
            <a:ext cx="132588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86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예시 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1691640"/>
          <a:ext cx="11210543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406640"/>
                <a:gridCol w="142646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구성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가져올 워크시트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1. 시장 세분화 결과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이번 구매의 주된 목적을 질문해 A 빠른 한 끼 · B 재료 선택 · C 함께 나눔으로 나눴습니다. 목적에 따라 구성 · 포장 · 수령 방식이 달라집니다.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2. 표적 시장과 선정 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 함께 나눔(19점 / 25점)을 선택하고 집중 전략을 씁니다. 개별 포장 · 예약 수령 강점과 1회 이익 가정이 가장 유리합니다(강의 제공 가상 자료).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3. 포지셔닝 문장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회의 간식을 준비하는 고객에게, 우리 샌드위치는 개별 포장과 예약 수령 덕분에 ‘준비 부담을 줄여 주는 회의 간식 세트’이다. (4인 세트 28,000원 가정 · 단품 4개보다 2,000원 저렴)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포지셔닝 이론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4. 기존 고객 RFM 진단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백화점 기존 고객 20명 중 상위 4명(C01 · C03 · C09 · C17)이 18,400만원, 전체의 47.0%입니다. C11(R2 · F3 · M3)은 평소 구매 주기를 먼저 확인합니다.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④ · ④-2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5. 세그먼트별 CRM 액션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관심 · 동의가 확인된 고객에게만 제안합니다. 최우수는 예약 상담, 우수는 구성 체험, 이탈 위험은 주기 확인 후 재접촉, 일반은 다음 구매 안내, 휴면은 소규모 안내.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6. LTV 기반 예산 배분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추정 LTV: 최우수 5,750만원 · 우수 2,625만원 · 이탈 위험 440만원 · 일반 약 1,003만원. 이번 캠페인 예산은 이와 별도로 10만원(3.2 · 2.4 · 2 · 1.6 · 0.8만원).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7. 신규 획득과 기존 유지의 연결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기존 회원의 팝업 구매는 같은 고객 기록에 연결합니다. 신규 구매자는 필요한 동의 후 첫 구매 30일 안에 식품관 두 번째 구매가 있는지 확인하고, 없으면 구매 목적에 맞는 다음 제안을 합니다. 성과 = 첫 구매자 중 30일 내 두 번째 구매자 비율과 실제 안내 비용.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전체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