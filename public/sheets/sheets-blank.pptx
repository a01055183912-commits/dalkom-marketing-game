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42.xml" ContentType="application/vnd.openxmlformats-officedocument.presentationml.slide+xml"/>
  <Override PartName="/ppt/slides/slide57.xml" ContentType="application/vnd.openxmlformats-officedocument.presentationml.slide+xml"/>
  <Override PartName="/ppt/slides/slide84.xml" ContentType="application/vnd.openxmlformats-officedocument.presentationml.slide+xml"/>
  <Override PartName="/ppt/slides/slide90.xml" ContentType="application/vnd.openxmlformats-officedocument.presentationml.slide+xml"/>
  <Override PartName="/ppt/slides/slide97.xml" ContentType="application/vnd.openxmlformats-officedocument.presentationml.slide+xml"/>
  <Override PartName="/ppt/slides/slide102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88"/>
  </p:notesMasterIdLst>
  <p:sldIdLst>
    <p:sldId id="1534" r:id="rId27"/>
    <p:sldId id="1538" r:id="rId43"/>
    <p:sldId id="1658" r:id="rId58"/>
    <p:sldId id="1546" r:id="rId85"/>
    <p:sldId id="1550" r:id="rId91"/>
    <p:sldId id="1554" r:id="rId98"/>
    <p:sldId id="1558" r:id="rId103"/>
    <p:sldId id="1562" r:id="rId10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54"/>
            <p14:sldId id="1640"/>
            <p14:sldId id="1624"/>
            <p14:sldId id="1641"/>
            <p14:sldId id="1642"/>
            <p14:sldId id="1580"/>
          </p14:sldIdLst>
        </p14:section>
        <p14:section name="내지템플릿" id="{3037A2AB-4A6B-4C83-8556-AB3EFE8FE7EF}">
          <p14:sldIdLst>
            <p14:sldId id="1581"/>
            <p14:sldId id="300"/>
            <p14:sldId id="1582"/>
            <p14:sldId id="1583"/>
            <p14:sldId id="1584"/>
            <p14:sldId id="1522"/>
            <p14:sldId id="1521"/>
            <p14:sldId id="1590"/>
            <p14:sldId id="1594"/>
            <p14:sldId id="1585"/>
            <p14:sldId id="1596"/>
            <p14:sldId id="1597"/>
            <p14:sldId id="1598"/>
            <p14:sldId id="1599"/>
            <p14:sldId id="1600"/>
            <p14:sldId id="1595"/>
            <p14:sldId id="1643"/>
            <p14:sldId id="1565"/>
            <p14:sldId id="1532"/>
            <p14:sldId id="1534"/>
            <p14:sldId id="1645"/>
            <p14:sldId id="1533"/>
            <p14:sldId id="1646"/>
            <p14:sldId id="1587"/>
            <p14:sldId id="1528"/>
            <p14:sldId id="317"/>
            <p14:sldId id="1647"/>
            <p14:sldId id="1648"/>
            <p14:sldId id="1649"/>
            <p14:sldId id="1650"/>
            <p14:sldId id="1526"/>
            <p14:sldId id="1625"/>
            <p14:sldId id="1626"/>
            <p14:sldId id="1566"/>
            <p14:sldId id="1536"/>
            <p14:sldId id="1538"/>
            <p14:sldId id="1651"/>
            <p14:sldId id="1537"/>
            <p14:sldId id="1588"/>
            <p14:sldId id="1567"/>
            <p14:sldId id="1617"/>
            <p14:sldId id="1652"/>
            <p14:sldId id="1618"/>
            <p14:sldId id="1653"/>
            <p14:sldId id="1654"/>
            <p14:sldId id="1655"/>
            <p14:sldId id="1621"/>
            <p14:sldId id="1656"/>
            <p14:sldId id="1657"/>
            <p14:sldId id="1620"/>
            <p14:sldId id="1658"/>
            <p14:sldId id="1659"/>
            <p14:sldId id="1574"/>
            <p14:sldId id="1287"/>
            <p14:sldId id="1573"/>
            <p14:sldId id="1589"/>
            <p14:sldId id="1529"/>
            <p14:sldId id="319"/>
            <p14:sldId id="1530"/>
            <p14:sldId id="1531"/>
            <p14:sldId id="389"/>
            <p14:sldId id="1592"/>
            <p14:sldId id="1660"/>
            <p14:sldId id="1670"/>
            <p14:sldId id="1279"/>
            <p14:sldId id="1280"/>
            <p14:sldId id="1282"/>
            <p14:sldId id="1283"/>
            <p14:sldId id="1601"/>
            <p14:sldId id="1602"/>
            <p14:sldId id="1289"/>
            <p14:sldId id="1604"/>
            <p14:sldId id="1603"/>
            <p14:sldId id="1295"/>
            <p14:sldId id="1629"/>
            <p14:sldId id="1542"/>
            <p14:sldId id="1540"/>
            <p14:sldId id="1546"/>
            <p14:sldId id="1661"/>
            <p14:sldId id="1541"/>
            <p14:sldId id="1575"/>
            <p14:sldId id="1662"/>
            <p14:sldId id="1548"/>
            <p14:sldId id="1550"/>
            <p14:sldId id="1663"/>
            <p14:sldId id="1294"/>
            <p14:sldId id="1605"/>
            <p14:sldId id="1606"/>
            <p14:sldId id="1576"/>
            <p14:sldId id="1552"/>
            <p14:sldId id="1554"/>
            <p14:sldId id="1664"/>
            <p14:sldId id="1665"/>
            <p14:sldId id="1577"/>
            <p14:sldId id="1556"/>
            <p14:sldId id="1558"/>
            <p14:sldId id="1666"/>
            <p14:sldId id="1557"/>
            <p14:sldId id="1667"/>
            <p14:sldId id="1578"/>
            <p14:sldId id="1560"/>
            <p14:sldId id="1562"/>
            <p14:sldId id="1668"/>
            <p14:sldId id="1561"/>
            <p14:sldId id="1607"/>
            <p14:sldId id="1622"/>
            <p14:sldId id="1669"/>
            <p14:sldId id="1223"/>
            <p14:sldId id="1623"/>
            <p14:sldId id="1608"/>
            <p14:sldId id="1631"/>
            <p14:sldId id="1609"/>
            <p14:sldId id="1610"/>
            <p14:sldId id="1632"/>
            <p14:sldId id="1535"/>
            <p14:sldId id="1611"/>
            <p14:sldId id="1633"/>
            <p14:sldId id="1634"/>
            <p14:sldId id="1539"/>
            <p14:sldId id="1612"/>
            <p14:sldId id="1635"/>
            <p14:sldId id="1613"/>
            <p14:sldId id="1619"/>
            <p14:sldId id="1627"/>
            <p14:sldId id="1628"/>
            <p14:sldId id="1614"/>
            <p14:sldId id="1636"/>
            <p14:sldId id="1637"/>
            <p14:sldId id="1615"/>
            <p14:sldId id="1549"/>
            <p14:sldId id="1551"/>
            <p14:sldId id="1555"/>
            <p14:sldId id="1638"/>
            <p14:sldId id="1616"/>
            <p14:sldId id="1559"/>
            <p14:sldId id="1639"/>
            <p14:sldId id="1563"/>
            <p14:sldId id="1630"/>
            <p14:sldId id="1543"/>
            <p14:sldId id="1544"/>
            <p14:sldId id="1545"/>
            <p14:sldId id="1547"/>
            <p14:sldId id="1553"/>
            <p14:sldId id="1579"/>
            <p14:sldId id="1591"/>
            <p14:sldId id="1523"/>
            <p14:sldId id="1564"/>
            <p14:sldId id="1524"/>
            <p14:sldId id="1593"/>
            <p14:sldId id="305"/>
            <p14:sldId id="306"/>
            <p14:sldId id="308"/>
            <p14:sldId id="1525"/>
            <p14:sldId id="309"/>
            <p14:sldId id="310"/>
            <p14:sldId id="312"/>
            <p14:sldId id="313"/>
            <p14:sldId id="1527"/>
            <p14:sldId id="320"/>
            <p14:sldId id="321"/>
            <p14:sldId id="322"/>
            <p14:sldId id="323"/>
            <p14:sldId id="390"/>
            <p14:sldId id="1568"/>
            <p14:sldId id="1569"/>
            <p14:sldId id="1570"/>
            <p14:sldId id="1571"/>
            <p14:sldId id="1572"/>
            <p14:sldId id="378"/>
            <p14:sldId id="379"/>
            <p14:sldId id="380"/>
            <p14:sldId id="381"/>
            <p14:sldId id="382"/>
            <p14:sldId id="383"/>
            <p14:sldId id="384"/>
            <p14:sldId id="1281"/>
            <p14:sldId id="1284"/>
            <p14:sldId id="1285"/>
            <p14:sldId id="1286"/>
            <p14:sldId id="12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0970" autoAdjust="0"/>
  </p:normalViewPr>
  <p:slideViewPr>
    <p:cSldViewPr>
      <p:cViewPr>
        <p:scale>
          <a:sx n="85" d="100"/>
          <a:sy n="85" d="100"/>
        </p:scale>
        <p:origin x="-398" y="-43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191" Type="http://schemas.openxmlformats.org/officeDocument/2006/relationships/theme" Target="theme/theme1.xml"/><Relationship Id="rId58" Type="http://schemas.openxmlformats.org/officeDocument/2006/relationships/slide" Target="slides/slide57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85" Type="http://schemas.openxmlformats.org/officeDocument/2006/relationships/slide" Target="slides/slide84.xml"/><Relationship Id="rId192" Type="http://schemas.openxmlformats.org/officeDocument/2006/relationships/tableStyles" Target="tableStyles.xml"/><Relationship Id="rId103" Type="http://schemas.openxmlformats.org/officeDocument/2006/relationships/slide" Target="slides/slide102.xml"/><Relationship Id="rId91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109" Type="http://schemas.openxmlformats.org/officeDocument/2006/relationships/slide" Target="slides/slide108.xml"/><Relationship Id="rId188" Type="http://schemas.openxmlformats.org/officeDocument/2006/relationships/notesMaster" Target="notesMasters/notesMaster1.xml"/><Relationship Id="rId98" Type="http://schemas.openxmlformats.org/officeDocument/2006/relationships/slide" Target="slides/slide97.xml"/><Relationship Id="rId189" Type="http://schemas.openxmlformats.org/officeDocument/2006/relationships/presProps" Target="presProps.xml"/><Relationship Id="rId19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FE3DFE2-4D22-6422-6B6D-6DBFE5EA2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8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6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2026-09-30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4C8F8BD2-31E3-FD9E-7D01-51659F278750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96DB3818-8C64-CA9A-F9A6-D756D0B0EE9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476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C574F18-80D8-DE0A-3CEC-C90F9B5164C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71D124E9-E49D-414C-91EE-2D62CE7AFCE4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49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06" r:id="rId3"/>
    <p:sldLayoutId id="2147483711" r:id="rId4"/>
    <p:sldLayoutId id="2147483712" r:id="rId5"/>
    <p:sldLayoutId id="2147483713" r:id="rId6"/>
    <p:sldLayoutId id="214748371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①  고객 세분화 기준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네 가지 기준으로 백화점 고객을 나누고, 가장 유효한 기준을 고르십시오.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35분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719072"/>
          <a:ext cx="11210542" cy="36027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96280"/>
                <a:gridCol w="2734279"/>
                <a:gridCol w="3098849"/>
                <a:gridCol w="328113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세분화 기준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우리가 쓸 구체적 변수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나뉘는 세그먼트 (2~3개)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 기준이 유효한 이유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인구통계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지역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행동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심리 · 라이프스타일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3776" y="5468112"/>
            <a:ext cx="11210544" cy="329184"/>
          </a:xfrm>
          <a:prstGeom prst="rect">
            <a:avLst/>
          </a:prstGeom>
          <a:solidFill>
            <a:srgbClr val="F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좋은 세분화의 조건 · 집단 안은 비슷하고(동질성), 집단 사이는 다르며(이질성), 각 집단에 다르게 접근할 수 있어야(접근 가능성)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5852160"/>
            <a:ext cx="112105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네 기준 중 우리에게 가장 유효한 것과 그 이유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6126480"/>
            <a:ext cx="11210544" cy="548640"/>
          </a:xfrm>
          <a:prstGeom prst="rect">
            <a:avLst/>
          </a:prstGeom>
          <a:noFill/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②  세분시장 평가와 표적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세 개 세그먼트를 같은 기준으로 점수화하고 하나를 고르십시오. 점수의 근거는 DART · 공식 사이트 등 실제 자료로 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35분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44" cy="29626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/>
                <a:gridCol w="1645920"/>
                <a:gridCol w="1645920"/>
                <a:gridCol w="1645920"/>
                <a:gridCol w="4078224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평가 항목 (각 5점)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 A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                    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 B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                    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 C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                    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판단 근거 (자료 출처)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시장 규모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성장 잠재력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경쟁 강도 (낮을수록 높은 점수)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자사와의 적합성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수익성 (객단가 · 빈도)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총점 (25점)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4800600"/>
          <a:ext cx="11210543" cy="17556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40"/>
                <a:gridCol w="731520"/>
                <a:gridCol w="810158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표적화 전략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선택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 전략을 고른 이유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비차별적 · 전체를 하나로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차별적 · 여러 세그먼트에 각각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집중 · 하나에 자원 몰기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 3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" name="Shape 4"/>
          <p:cNvSpPr txBox="1"/>
          <p:nvPr/>
        </p:nvSpPr>
        <p:spPr>
          <a:xfrm>
            <a:off x="621792" y="822960"/>
            <a:ext cx="8500000" cy="438912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품평회 · 선택 결과 기록표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ko-KR"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20분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21792" y="131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1400" b="0">
                <a:solidFill>
                  <a:srgbClr val="595959"/>
                </a:solidFill>
                <a:latin typeface="a고딕14"/>
                <a:ea typeface="a고딕14"/>
                <a:cs typeface="a고딕14"/>
              </a:rPr>
              <a:t>받은 역할 카드의 고객이 되어 다른 조 상품 한 개를 고르거나 ‘미구매’를 고르고, 이유를 적으십시오.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21792" y="1620000"/>
            <a:ext cx="1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14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93776" y="2000000"/>
          <a:ext cx="11210544" cy="2300000"/>
        </p:xfrm>
        <a:graphic>
          <a:graphicData uri="http://schemas.openxmlformats.org/drawingml/2006/table">
            <a:tbl>
              <a:tblPr firstRow="1"/>
              <a:tblGrid>
                <a:gridCol w="2000000"/>
                <a:gridCol w="3200000"/>
                <a:gridCol w="3400000"/>
                <a:gridCol w="2610544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고객 역할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선택 상품 또는 미구매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가장 큰 선택 이유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망설인 점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/ B / C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조 이름: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내용물 / 가격 / 포장 / 편의 / 기타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/ B / C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조 이름: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내용물 / 가격 / 포장 / 편의 / 기타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/ B / C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조 이름: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내용물 / 가격 / 포장 / 편의 / 기타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A / B / C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조 이름: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내용물 / 가격 / 포장 / 편의 / 기타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9"/>
          <p:cNvSpPr txBox="1"/>
          <p:nvPr/>
        </p:nvSpPr>
        <p:spPr>
          <a:xfrm>
            <a:off x="493776" y="4400000"/>
            <a:ext cx="11210544" cy="330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l"/>
            <a:r>
              <a:rPr lang="ko-KR" sz="16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우리 조 상품의 결과 (목표 고객 기준)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93776" y="4780000"/>
          <a:ext cx="11210544" cy="1040000"/>
        </p:xfrm>
        <a:graphic>
          <a:graphicData uri="http://schemas.openxmlformats.org/drawingml/2006/table">
            <a:tbl>
              <a:tblPr firstRow="1"/>
              <a:tblGrid>
                <a:gridCol w="1700000"/>
                <a:gridCol w="2300000"/>
                <a:gridCol w="1900000"/>
                <a:gridCol w="1800000"/>
                <a:gridCol w="3510544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목표 고객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투표 가능한 목표 역할 인원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목표 역할이 고른 수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목표 역할 선택률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5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고칠 점 한 가지</a:t>
                      </a:r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lnL w="9525">
                      <a:solidFill>
                        <a:srgbClr val="CFCFCF"/>
                      </a:solidFill>
                      <a:prstDash val="solid"/>
                    </a:lnL>
                    <a:lnR w="9525">
                      <a:solidFill>
                        <a:srgbClr val="CFCFCF"/>
                      </a:solidFill>
                      <a:prstDash val="solid"/>
                    </a:lnR>
                    <a:lnT w="9525">
                      <a:solidFill>
                        <a:srgbClr val="CFCFCF"/>
                      </a:solidFill>
                      <a:prstDash val="solid"/>
                    </a:lnT>
                    <a:lnB w="9525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11"/>
          <p:cNvSpPr txBox="1"/>
          <p:nvPr/>
        </p:nvSpPr>
        <p:spPr>
          <a:xfrm>
            <a:off x="493776" y="6000000"/>
            <a:ext cx="11210544" cy="500000"/>
          </a:xfrm>
          <a:prstGeom prst="rect">
            <a:avLst/>
          </a:prstGeom>
          <a:solidFill>
            <a:srgbClr val="FCE9E5"/>
          </a:solidFill>
          <a:ln>
            <a:noFill/>
          </a:ln>
        </p:spPr>
        <p:txBody>
          <a:bodyPr wrap="square" lIns="137160" tIns="137160" rIns="137160" bIns="137160" anchor="ctr">
            <a:normAutofit/>
          </a:bodyPr>
          <a:lstStyle/>
          <a:p>
            <a:pPr algn="l"/>
            <a:r>
              <a:rPr lang="ko-KR" sz="14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읽는 법  </a:t>
            </a:r>
            <a:r>
              <a:rPr lang="ko-KR" sz="14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총득표보다 목표 역할의 선택과 이유를 봅니다. 자기 조 상품에는 투표할 수 없으므로 분모는 ‘투표 가능한 목표 역할 인원’입니다. 교실 선택은 실제 수요가 아닙니다.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④  RFM 점수 계산과 등급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케이스 데이터를 지표별로 정렬해 5분위로 나누고 점수를 매기십시오.  ※ 계산 연습용 가상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38" cy="39227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37998"/>
                <a:gridCol w="683569"/>
                <a:gridCol w="546855"/>
                <a:gridCol w="774712"/>
                <a:gridCol w="455713"/>
                <a:gridCol w="455713"/>
                <a:gridCol w="455713"/>
                <a:gridCol w="1594996"/>
                <a:gridCol w="637998"/>
                <a:gridCol w="683569"/>
                <a:gridCol w="546855"/>
                <a:gridCol w="774712"/>
                <a:gridCol w="455713"/>
                <a:gridCol w="455713"/>
                <a:gridCol w="455713"/>
                <a:gridCol w="1594996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경과일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횟수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금액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(만원)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F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경과일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횟수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금액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(만원)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F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4,200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60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3,100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2,900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5,600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1,800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700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620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2,400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380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4,800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1,250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75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950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3,800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95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180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3776" y="5715000"/>
            <a:ext cx="11210544" cy="822960"/>
          </a:xfrm>
          <a:prstGeom prst="rect">
            <a:avLst/>
          </a:prstGeom>
          <a:solidFill>
            <a:srgbClr val="F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11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계산 순서 · ① 경과일 오름차순 정렬 → 상위 4명씩 R5~R1   ② 구매횟수 내림차순 → F5~F1   ③ 구매금액 내림차순 → M5~M1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세그먼트 이름은 최우수 · 신규 고액 · 이탈 위험 우수 · 일반 · 휴면 중에서 고르거나 직접 지으십시오.   (R만 정렬 방향이 반대입니다!)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④-2  RFM 결과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점수를 매겼으면 그 결과가 무엇을 말하는지 읽어내십시오.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44" cy="25237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1463040"/>
                <a:gridCol w="3566160"/>
                <a:gridCol w="3438144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분석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해당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수치 근거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가장 시급한 조치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R · F · M 모두 5점인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최근에 왔지만 아직 빈도가 낮은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예전엔 우수했는데 최근 발길이 끊긴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회복 우선순위가 가장 낮은 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4343400"/>
          <a:ext cx="11210542" cy="14813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2651759"/>
                <a:gridCol w="1645920"/>
                <a:gridCol w="416966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계산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계산식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값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여기서 읽히는 것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상위 4명의 구매금액 합계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전체 대비 비중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하위 4명의 구매금액 합계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93776" y="5943600"/>
            <a:ext cx="11210544" cy="502920"/>
          </a:xfrm>
          <a:prstGeom prst="rect">
            <a:avLst/>
          </a:prstGeom>
          <a:solidFill>
            <a:srgbClr val="F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2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참고 · 고객 20명 구매금액 합계 = 3억 9,120만원 (39,120만원)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⑤  세그먼트별 CRM 액션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등급마다 다른 목적과 다른 수단이 필요합니다. 남들 다 하는 할인 · 쿠폰 말고, 새로운 액션을 하나 이상 넣으십시오.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40분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41" cy="35112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1807"/>
                <a:gridCol w="1464234"/>
                <a:gridCol w="3019983"/>
                <a:gridCol w="1418476"/>
                <a:gridCol w="1464234"/>
                <a:gridCol w="1921807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 등급의 목적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구체적 액션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채널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예상 비용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성과 지표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최우수 (VIP)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C01 · C03 · C09 · C17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우수 단골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C02 · C06 · C12 · C19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이탈 위험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C05 · C10 · C11 · C18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일반 (성장 여지)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C04 · C08 · C14 · C15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휴면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C07 · C13 · C16 · C20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3776" y="5550408"/>
            <a:ext cx="11210544" cy="292608"/>
          </a:xfrm>
          <a:prstGeom prst="rect">
            <a:avLst/>
          </a:prstGeom>
          <a:solidFill>
            <a:srgbClr val="FC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120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개인정보 원칙에 비추어 문제가 될 수 있는 액션이 있는가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5897880"/>
            <a:ext cx="11210544" cy="685800"/>
          </a:xfrm>
          <a:prstGeom prst="rect">
            <a:avLst/>
          </a:prstGeom>
          <a:noFill/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⑥  고객 생애가치 추정과 투자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등급별 LTV를 계산하고, 획득 · 유지 비용의 상한을 정하십시오.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35분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44" cy="21396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0240"/>
                <a:gridCol w="1828800"/>
                <a:gridCol w="822960"/>
                <a:gridCol w="1371600"/>
                <a:gridCol w="1371600"/>
                <a:gridCol w="3895344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연간 구매금액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GP율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예상 유지 연수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LTV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쓸 수 있는 마케팅 비용 상한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최우수 (VIP)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우수 단골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이탈 위험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일반 (성장 여지)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25 %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4206240"/>
          <a:ext cx="11210544" cy="23591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/>
                <a:gridCol w="7918704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판단 질문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답변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이탈 위험 우수 고객 1명을 지키는 것과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신규 1명을 데려오는 것 중 어느 쪽이 이익인가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휴면 고객 회복에 예산을 쓰지 않기로 한다면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그 근거는 무엇인가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예상 유지 연수를 늘리려면 무엇을 해야 하는가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776" y="3858768"/>
            <a:ext cx="11210544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LTV = 연간 구매금액 × GP율 × 예상 유지 연수     연간 구매금액 = 실습④ 등급별 4명 평균, GP율 25%로 통일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⑦  STP + CRM 통합 기획안 (원페이퍼)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앞선 워크시트를 옮겨 담고, 두 축이 어떻게 이어지는지 적으십시오.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45분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43" cy="4754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40"/>
                <a:gridCol w="7406640"/>
                <a:gridCol w="142646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구성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가져올 워크시트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1. 시장 세분화 결과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2. 표적 시장과 선정 근거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3. 포지셔닝 문장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포지셔닝 이론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4. 기존 고객 RFM 진단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④ · ④-2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5. 세그먼트별 CRM 액션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6. LTV 기반 예산 배분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7. 신규 획득과 기존 유지의 연결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전체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12262</TotalTime>
  <Words>28626</Words>
  <Application>Microsoft Office PowerPoint</Application>
  <PresentationFormat>사용자 지정</PresentationFormat>
  <Paragraphs>4679</Paragraphs>
  <Slides>186</Slides>
  <Notes>146</Notes>
  <HiddenSlides>72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186</vt:i4>
      </vt:variant>
    </vt:vector>
  </HeadingPairs>
  <TitlesOfParts>
    <vt:vector size="18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귀사 제품의 포지셔닝은 어떻게 되어 있습니까?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735</cp:revision>
  <dcterms:created xsi:type="dcterms:W3CDTF">2023-03-30T02:09:27Z</dcterms:created>
  <dcterms:modified xsi:type="dcterms:W3CDTF">2026-09-29T17:04:43Z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