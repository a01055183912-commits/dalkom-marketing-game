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88"/>
  </p:notesMasterIdLst>
  <p:sldIdLst>
    <p:sldId id="1558" r:id="rId10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54"/>
            <p14:sldId id="1640"/>
            <p14:sldId id="1624"/>
            <p14:sldId id="1641"/>
            <p14:sldId id="1642"/>
            <p14:sldId id="1580"/>
          </p14:sldIdLst>
        </p14:section>
        <p14:section name="내지템플릿" id="{3037A2AB-4A6B-4C83-8556-AB3EFE8FE7EF}">
          <p14:sldIdLst>
            <p14:sldId id="1581"/>
            <p14:sldId id="300"/>
            <p14:sldId id="1582"/>
            <p14:sldId id="1583"/>
            <p14:sldId id="1584"/>
            <p14:sldId id="1522"/>
            <p14:sldId id="1521"/>
            <p14:sldId id="1590"/>
            <p14:sldId id="1594"/>
            <p14:sldId id="1585"/>
            <p14:sldId id="1596"/>
            <p14:sldId id="1597"/>
            <p14:sldId id="1598"/>
            <p14:sldId id="1599"/>
            <p14:sldId id="1600"/>
            <p14:sldId id="1595"/>
            <p14:sldId id="1643"/>
            <p14:sldId id="1565"/>
            <p14:sldId id="1532"/>
            <p14:sldId id="1534"/>
            <p14:sldId id="1645"/>
            <p14:sldId id="1533"/>
            <p14:sldId id="1646"/>
            <p14:sldId id="1587"/>
            <p14:sldId id="1528"/>
            <p14:sldId id="317"/>
            <p14:sldId id="1647"/>
            <p14:sldId id="1648"/>
            <p14:sldId id="1649"/>
            <p14:sldId id="1650"/>
            <p14:sldId id="1526"/>
            <p14:sldId id="1625"/>
            <p14:sldId id="1626"/>
            <p14:sldId id="1566"/>
            <p14:sldId id="1536"/>
            <p14:sldId id="1538"/>
            <p14:sldId id="1651"/>
            <p14:sldId id="1537"/>
            <p14:sldId id="1588"/>
            <p14:sldId id="1567"/>
            <p14:sldId id="1617"/>
            <p14:sldId id="1652"/>
            <p14:sldId id="1618"/>
            <p14:sldId id="1653"/>
            <p14:sldId id="1654"/>
            <p14:sldId id="1655"/>
            <p14:sldId id="1621"/>
            <p14:sldId id="1656"/>
            <p14:sldId id="1657"/>
            <p14:sldId id="1620"/>
            <p14:sldId id="1658"/>
            <p14:sldId id="1659"/>
            <p14:sldId id="1574"/>
            <p14:sldId id="1287"/>
            <p14:sldId id="1573"/>
            <p14:sldId id="1589"/>
            <p14:sldId id="1529"/>
            <p14:sldId id="319"/>
            <p14:sldId id="1530"/>
            <p14:sldId id="1531"/>
            <p14:sldId id="389"/>
            <p14:sldId id="1592"/>
            <p14:sldId id="1660"/>
            <p14:sldId id="1670"/>
            <p14:sldId id="1279"/>
            <p14:sldId id="1280"/>
            <p14:sldId id="1282"/>
            <p14:sldId id="1283"/>
            <p14:sldId id="1601"/>
            <p14:sldId id="1602"/>
            <p14:sldId id="1289"/>
            <p14:sldId id="1604"/>
            <p14:sldId id="1603"/>
            <p14:sldId id="1295"/>
            <p14:sldId id="1629"/>
            <p14:sldId id="1542"/>
            <p14:sldId id="1540"/>
            <p14:sldId id="1546"/>
            <p14:sldId id="1661"/>
            <p14:sldId id="1541"/>
            <p14:sldId id="1575"/>
            <p14:sldId id="1662"/>
            <p14:sldId id="1548"/>
            <p14:sldId id="1550"/>
            <p14:sldId id="1663"/>
            <p14:sldId id="1294"/>
            <p14:sldId id="1605"/>
            <p14:sldId id="1606"/>
            <p14:sldId id="1576"/>
            <p14:sldId id="1552"/>
            <p14:sldId id="1554"/>
            <p14:sldId id="1664"/>
            <p14:sldId id="1665"/>
            <p14:sldId id="1577"/>
            <p14:sldId id="1556"/>
            <p14:sldId id="1558"/>
            <p14:sldId id="1666"/>
            <p14:sldId id="1557"/>
            <p14:sldId id="1667"/>
            <p14:sldId id="1578"/>
            <p14:sldId id="1560"/>
            <p14:sldId id="1562"/>
            <p14:sldId id="1668"/>
            <p14:sldId id="1561"/>
            <p14:sldId id="1607"/>
            <p14:sldId id="1622"/>
            <p14:sldId id="1669"/>
            <p14:sldId id="1223"/>
            <p14:sldId id="1623"/>
            <p14:sldId id="1608"/>
            <p14:sldId id="1631"/>
            <p14:sldId id="1609"/>
            <p14:sldId id="1610"/>
            <p14:sldId id="1632"/>
            <p14:sldId id="1535"/>
            <p14:sldId id="1611"/>
            <p14:sldId id="1633"/>
            <p14:sldId id="1634"/>
            <p14:sldId id="1539"/>
            <p14:sldId id="1612"/>
            <p14:sldId id="1635"/>
            <p14:sldId id="1613"/>
            <p14:sldId id="1619"/>
            <p14:sldId id="1627"/>
            <p14:sldId id="1628"/>
            <p14:sldId id="1614"/>
            <p14:sldId id="1636"/>
            <p14:sldId id="1637"/>
            <p14:sldId id="1615"/>
            <p14:sldId id="1549"/>
            <p14:sldId id="1551"/>
            <p14:sldId id="1555"/>
            <p14:sldId id="1638"/>
            <p14:sldId id="1616"/>
            <p14:sldId id="1559"/>
            <p14:sldId id="1639"/>
            <p14:sldId id="1563"/>
            <p14:sldId id="1630"/>
            <p14:sldId id="1543"/>
            <p14:sldId id="1544"/>
            <p14:sldId id="1545"/>
            <p14:sldId id="1547"/>
            <p14:sldId id="1553"/>
            <p14:sldId id="1579"/>
            <p14:sldId id="1591"/>
            <p14:sldId id="1523"/>
            <p14:sldId id="1564"/>
            <p14:sldId id="1524"/>
            <p14:sldId id="1593"/>
            <p14:sldId id="305"/>
            <p14:sldId id="306"/>
            <p14:sldId id="308"/>
            <p14:sldId id="1525"/>
            <p14:sldId id="309"/>
            <p14:sldId id="310"/>
            <p14:sldId id="312"/>
            <p14:sldId id="313"/>
            <p14:sldId id="1527"/>
            <p14:sldId id="320"/>
            <p14:sldId id="321"/>
            <p14:sldId id="322"/>
            <p14:sldId id="323"/>
            <p14:sldId id="390"/>
            <p14:sldId id="1568"/>
            <p14:sldId id="1569"/>
            <p14:sldId id="1570"/>
            <p14:sldId id="1571"/>
            <p14:sldId id="1572"/>
            <p14:sldId id="378"/>
            <p14:sldId id="379"/>
            <p14:sldId id="380"/>
            <p14:sldId id="381"/>
            <p14:sldId id="382"/>
            <p14:sldId id="383"/>
            <p14:sldId id="384"/>
            <p14:sldId id="1281"/>
            <p14:sldId id="1284"/>
            <p14:sldId id="1285"/>
            <p14:sldId id="1286"/>
            <p14:sldId id="128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0970" autoAdjust="0"/>
  </p:normalViewPr>
  <p:slideViewPr>
    <p:cSldViewPr>
      <p:cViewPr>
        <p:scale>
          <a:sx n="85" d="100"/>
          <a:sy n="85" d="100"/>
        </p:scale>
        <p:origin x="-398" y="-43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?><Relationships xmlns="http://schemas.openxmlformats.org/package/2006/relationships"><Relationship Id="rId191" Type="http://schemas.openxmlformats.org/officeDocument/2006/relationships/theme" Target="theme/theme1.xml"/><Relationship Id="rId192" Type="http://schemas.openxmlformats.org/officeDocument/2006/relationships/tableStyles" Target="tableStyles.xml"/><Relationship Id="rId103" Type="http://schemas.openxmlformats.org/officeDocument/2006/relationships/slide" Target="slides/slide102.xml"/><Relationship Id="rId1" Type="http://schemas.openxmlformats.org/officeDocument/2006/relationships/slideMaster" Target="slideMasters/slideMaster1.xml"/><Relationship Id="rId188" Type="http://schemas.openxmlformats.org/officeDocument/2006/relationships/notesMaster" Target="notesMasters/notesMaster1.xml"/><Relationship Id="rId189" Type="http://schemas.openxmlformats.org/officeDocument/2006/relationships/presProps" Target="presProps.xml"/><Relationship Id="rId19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1FE3DFE2-4D22-6422-6B6D-6DBFE5EA2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7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08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6196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D8D7A7C4-C82A-4D21-9AB0-F0C5A1D3EF09}" type="datetime1">
              <a:rPr lang="ko-KR" altLang="en-US"/>
              <a:pPr lvl="0">
                <a:defRPr lang="ko-KR" altLang="en-US"/>
              </a:pPr>
              <a:t>2026-09-30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4C8F8BD2-31E3-FD9E-7D01-51659F278750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96DB3818-8C64-CA9A-F9A6-D756D0B0EE9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476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C574F18-80D8-DE0A-3CEC-C90F9B5164C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71D124E9-E49D-414C-91EE-2D62CE7AFCE4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949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06" r:id="rId3"/>
    <p:sldLayoutId id="2147483711" r:id="rId4"/>
    <p:sldLayoutId id="2147483712" r:id="rId5"/>
    <p:sldLayoutId id="2147483713" r:id="rId6"/>
    <p:sldLayoutId id="214748371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⑥  고객 생애가치 추정과 투자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등급별 LTV를 계산하고, 획득 · 유지 비용의 상한을 정하십시오.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35분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691640"/>
          <a:ext cx="11210544" cy="21396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0240"/>
                <a:gridCol w="1828800"/>
                <a:gridCol w="822960"/>
                <a:gridCol w="1371600"/>
                <a:gridCol w="1371600"/>
                <a:gridCol w="3895344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연간 구매금액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GP율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예상 유지 연수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LTV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쓸 수 있는 마케팅 비용 상한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최우수 (VIP)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우수 단골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이탈 위험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일반 (성장 여지)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4206240"/>
          <a:ext cx="11210544" cy="23591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1840"/>
                <a:gridCol w="7918704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판단 질문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답변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이탈 위험 우수 고객 1명을 지키는 것과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신규 1명을 데려오는 것 중 어느 쪽이 이익인가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휴면 고객 회복에 예산을 쓰지 않기로 한다면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그 근거는 무엇인가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예상 유지 연수를 늘리려면 무엇을 해야 하는가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3776" y="3858768"/>
            <a:ext cx="11210544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LTV = 연간 구매금액 × GP율 × 예상 유지 연수     연간 구매금액 = 실습④ 등급별 4명 평균, GP율 25%로 통일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12262</TotalTime>
  <Words>28626</Words>
  <Application>Microsoft Office PowerPoint</Application>
  <PresentationFormat>사용자 지정</PresentationFormat>
  <Paragraphs>4679</Paragraphs>
  <Slides>186</Slides>
  <Notes>146</Notes>
  <HiddenSlides>72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186</vt:i4>
      </vt:variant>
    </vt:vector>
  </HeadingPairs>
  <TitlesOfParts>
    <vt:vector size="18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귀사 제품의 포지셔닝은 어떻게 되어 있습니까?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735</cp:revision>
  <dcterms:created xsi:type="dcterms:W3CDTF">2023-03-30T02:09:27Z</dcterms:created>
  <dcterms:modified xsi:type="dcterms:W3CDTF">2026-09-29T17:04:43Z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