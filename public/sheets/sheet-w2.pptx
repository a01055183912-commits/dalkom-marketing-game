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1"/>
  </p:sldMasterIdLst>
  <p:notesMasterIdLst>
    <p:notesMasterId r:id="rId188"/>
  </p:notesMasterIdLst>
  <p:sldIdLst>
    <p:sldId id="1538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D3C515C-B418-4FA2-B2E7-568CA6DB0748}">
          <p14:sldIdLst>
            <p14:sldId id="1254"/>
            <p14:sldId id="1640"/>
            <p14:sldId id="1624"/>
            <p14:sldId id="1641"/>
            <p14:sldId id="1642"/>
            <p14:sldId id="1580"/>
          </p14:sldIdLst>
        </p14:section>
        <p14:section name="내지템플릿" id="{3037A2AB-4A6B-4C83-8556-AB3EFE8FE7EF}">
          <p14:sldIdLst>
            <p14:sldId id="1581"/>
            <p14:sldId id="300"/>
            <p14:sldId id="1582"/>
            <p14:sldId id="1583"/>
            <p14:sldId id="1584"/>
            <p14:sldId id="1522"/>
            <p14:sldId id="1521"/>
            <p14:sldId id="1590"/>
            <p14:sldId id="1594"/>
            <p14:sldId id="1585"/>
            <p14:sldId id="1596"/>
            <p14:sldId id="1597"/>
            <p14:sldId id="1598"/>
            <p14:sldId id="1599"/>
            <p14:sldId id="1600"/>
            <p14:sldId id="1595"/>
            <p14:sldId id="1643"/>
            <p14:sldId id="1565"/>
            <p14:sldId id="1532"/>
            <p14:sldId id="1534"/>
            <p14:sldId id="1645"/>
            <p14:sldId id="1533"/>
            <p14:sldId id="1646"/>
            <p14:sldId id="1587"/>
            <p14:sldId id="1528"/>
            <p14:sldId id="317"/>
            <p14:sldId id="1647"/>
            <p14:sldId id="1648"/>
            <p14:sldId id="1649"/>
            <p14:sldId id="1650"/>
            <p14:sldId id="1526"/>
            <p14:sldId id="1625"/>
            <p14:sldId id="1626"/>
            <p14:sldId id="1566"/>
            <p14:sldId id="1536"/>
            <p14:sldId id="1538"/>
            <p14:sldId id="1651"/>
            <p14:sldId id="1537"/>
            <p14:sldId id="1588"/>
            <p14:sldId id="1567"/>
            <p14:sldId id="1617"/>
            <p14:sldId id="1652"/>
            <p14:sldId id="1618"/>
            <p14:sldId id="1653"/>
            <p14:sldId id="1654"/>
            <p14:sldId id="1655"/>
            <p14:sldId id="1621"/>
            <p14:sldId id="1656"/>
            <p14:sldId id="1657"/>
            <p14:sldId id="1620"/>
            <p14:sldId id="1658"/>
            <p14:sldId id="1659"/>
            <p14:sldId id="1574"/>
            <p14:sldId id="1287"/>
            <p14:sldId id="1573"/>
            <p14:sldId id="1589"/>
            <p14:sldId id="1529"/>
            <p14:sldId id="319"/>
            <p14:sldId id="1530"/>
            <p14:sldId id="1531"/>
            <p14:sldId id="389"/>
            <p14:sldId id="1592"/>
            <p14:sldId id="1660"/>
            <p14:sldId id="1670"/>
            <p14:sldId id="1279"/>
            <p14:sldId id="1280"/>
            <p14:sldId id="1282"/>
            <p14:sldId id="1283"/>
            <p14:sldId id="1601"/>
            <p14:sldId id="1602"/>
            <p14:sldId id="1289"/>
            <p14:sldId id="1604"/>
            <p14:sldId id="1603"/>
            <p14:sldId id="1295"/>
            <p14:sldId id="1629"/>
            <p14:sldId id="1542"/>
            <p14:sldId id="1540"/>
            <p14:sldId id="1546"/>
            <p14:sldId id="1661"/>
            <p14:sldId id="1541"/>
            <p14:sldId id="1575"/>
            <p14:sldId id="1662"/>
            <p14:sldId id="1548"/>
            <p14:sldId id="1550"/>
            <p14:sldId id="1663"/>
            <p14:sldId id="1294"/>
            <p14:sldId id="1605"/>
            <p14:sldId id="1606"/>
            <p14:sldId id="1576"/>
            <p14:sldId id="1552"/>
            <p14:sldId id="1554"/>
            <p14:sldId id="1664"/>
            <p14:sldId id="1665"/>
            <p14:sldId id="1577"/>
            <p14:sldId id="1556"/>
            <p14:sldId id="1558"/>
            <p14:sldId id="1666"/>
            <p14:sldId id="1557"/>
            <p14:sldId id="1667"/>
            <p14:sldId id="1578"/>
            <p14:sldId id="1560"/>
            <p14:sldId id="1562"/>
            <p14:sldId id="1668"/>
            <p14:sldId id="1561"/>
            <p14:sldId id="1607"/>
            <p14:sldId id="1622"/>
            <p14:sldId id="1669"/>
            <p14:sldId id="1223"/>
            <p14:sldId id="1623"/>
            <p14:sldId id="1608"/>
            <p14:sldId id="1631"/>
            <p14:sldId id="1609"/>
            <p14:sldId id="1610"/>
            <p14:sldId id="1632"/>
            <p14:sldId id="1535"/>
            <p14:sldId id="1611"/>
            <p14:sldId id="1633"/>
            <p14:sldId id="1634"/>
            <p14:sldId id="1539"/>
            <p14:sldId id="1612"/>
            <p14:sldId id="1635"/>
            <p14:sldId id="1613"/>
            <p14:sldId id="1619"/>
            <p14:sldId id="1627"/>
            <p14:sldId id="1628"/>
            <p14:sldId id="1614"/>
            <p14:sldId id="1636"/>
            <p14:sldId id="1637"/>
            <p14:sldId id="1615"/>
            <p14:sldId id="1549"/>
            <p14:sldId id="1551"/>
            <p14:sldId id="1555"/>
            <p14:sldId id="1638"/>
            <p14:sldId id="1616"/>
            <p14:sldId id="1559"/>
            <p14:sldId id="1639"/>
            <p14:sldId id="1563"/>
            <p14:sldId id="1630"/>
            <p14:sldId id="1543"/>
            <p14:sldId id="1544"/>
            <p14:sldId id="1545"/>
            <p14:sldId id="1547"/>
            <p14:sldId id="1553"/>
            <p14:sldId id="1579"/>
            <p14:sldId id="1591"/>
            <p14:sldId id="1523"/>
            <p14:sldId id="1564"/>
            <p14:sldId id="1524"/>
            <p14:sldId id="1593"/>
            <p14:sldId id="305"/>
            <p14:sldId id="306"/>
            <p14:sldId id="308"/>
            <p14:sldId id="1525"/>
            <p14:sldId id="309"/>
            <p14:sldId id="310"/>
            <p14:sldId id="312"/>
            <p14:sldId id="313"/>
            <p14:sldId id="1527"/>
            <p14:sldId id="320"/>
            <p14:sldId id="321"/>
            <p14:sldId id="322"/>
            <p14:sldId id="323"/>
            <p14:sldId id="390"/>
            <p14:sldId id="1568"/>
            <p14:sldId id="1569"/>
            <p14:sldId id="1570"/>
            <p14:sldId id="1571"/>
            <p14:sldId id="1572"/>
            <p14:sldId id="378"/>
            <p14:sldId id="379"/>
            <p14:sldId id="380"/>
            <p14:sldId id="381"/>
            <p14:sldId id="382"/>
            <p14:sldId id="383"/>
            <p14:sldId id="384"/>
            <p14:sldId id="1281"/>
            <p14:sldId id="1284"/>
            <p14:sldId id="1285"/>
            <p14:sldId id="1286"/>
            <p14:sldId id="1288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3906" userDrawn="1">
          <p15:clr>
            <a:srgbClr val="A4A3A4"/>
          </p15:clr>
        </p15:guide>
        <p15:guide id="2" pos="347" userDrawn="1">
          <p15:clr>
            <a:srgbClr val="A4A3A4"/>
          </p15:clr>
        </p15:guide>
        <p15:guide id="3" pos="7333" userDrawn="1">
          <p15:clr>
            <a:srgbClr val="A4A3A4"/>
          </p15:clr>
        </p15:guide>
        <p15:guide id="4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EC7100"/>
    <a:srgbClr val="FFCE93"/>
    <a:srgbClr val="1D31A2"/>
    <a:srgbClr val="E60012"/>
    <a:srgbClr val="FCAF17"/>
    <a:srgbClr val="776C61"/>
    <a:srgbClr val="344E78"/>
    <a:srgbClr val="BFD4FF"/>
    <a:srgbClr val="7E9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90970" autoAdjust="0"/>
  </p:normalViewPr>
  <p:slideViewPr>
    <p:cSldViewPr>
      <p:cViewPr>
        <p:scale>
          <a:sx n="85" d="100"/>
          <a:sy n="85" d="100"/>
        </p:scale>
        <p:origin x="-398" y="-43"/>
      </p:cViewPr>
      <p:guideLst>
        <p:guide orient="horz" pos="3906"/>
        <p:guide orient="horz" pos="3997"/>
        <p:guide pos="347"/>
        <p:guide pos="73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?><Relationships xmlns="http://schemas.openxmlformats.org/package/2006/relationships"><Relationship Id="rId191" Type="http://schemas.openxmlformats.org/officeDocument/2006/relationships/theme" Target="theme/theme1.xml"/><Relationship Id="rId43" Type="http://schemas.openxmlformats.org/officeDocument/2006/relationships/slide" Target="slides/slide42.xml"/><Relationship Id="rId19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88" Type="http://schemas.openxmlformats.org/officeDocument/2006/relationships/notesMaster" Target="notesMasters/notesMaster1.xml"/><Relationship Id="rId189" Type="http://schemas.openxmlformats.org/officeDocument/2006/relationships/presProps" Target="presProps.xml"/><Relationship Id="rId19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7380F5D7-D9C1-4DB7-9CD7-F0AE3CE0D377}" type="datetimeFigureOut">
              <a:rPr lang="ko-KR" altLang="en-US" smtClean="0"/>
              <a:pPr/>
              <a:t>2026-09-30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1pPr>
          </a:lstStyle>
          <a:p>
            <a:fld id="{E6847827-678D-44C3-90F5-D7FFBBDE4B5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4134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 네오 Regular" panose="00000500000000000000" pitchFamily="2" charset="-127"/>
        <a:ea typeface="나눔스퀘어 네오 Regular" panose="000005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B11889A0-B5F6-0640-8553-7C639E859A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" y="859"/>
            <a:ext cx="12191996" cy="6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56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6B2EE46-C609-A3F2-5E01-DF38E91C23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" y="860"/>
            <a:ext cx="12191994" cy="6857140"/>
          </a:xfrm>
          <a:prstGeom prst="rect">
            <a:avLst/>
          </a:prstGeom>
        </p:spPr>
      </p:pic>
      <p:sp>
        <p:nvSpPr>
          <p:cNvPr id="27" name="직사각형 26">
            <a:extLst>
              <a:ext uri="{FF2B5EF4-FFF2-40B4-BE49-F238E27FC236}">
                <a16:creationId xmlns:a16="http://schemas.microsoft.com/office/drawing/2014/main" xmlns="" id="{017D2532-48B0-C72F-8054-5533D3A8D6AA}"/>
              </a:ext>
            </a:extLst>
          </p:cNvPr>
          <p:cNvSpPr/>
          <p:nvPr userDrawn="1"/>
        </p:nvSpPr>
        <p:spPr>
          <a:xfrm>
            <a:off x="10037775" y="6569948"/>
            <a:ext cx="2153796" cy="230832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algn="r">
              <a:spcBef>
                <a:spcPts val="200"/>
              </a:spcBef>
              <a:defRPr/>
            </a:pPr>
            <a:r>
              <a:rPr lang="en-US" altLang="ko-KR" sz="900" kern="0" spc="20" dirty="0">
                <a:gradFill>
                  <a:gsLst>
                    <a:gs pos="0">
                      <a:schemeClr val="tx1">
                        <a:alpha val="50000"/>
                      </a:schemeClr>
                    </a:gs>
                    <a:gs pos="100000">
                      <a:schemeClr val="tx1">
                        <a:alpha val="50000"/>
                      </a:schemeClr>
                    </a:gs>
                  </a:gsLst>
                  <a:lin ang="5400000" scaled="1"/>
                </a:gradFill>
                <a:latin typeface="나눔스퀘어 네오 Light" panose="00000400000000000000" pitchFamily="2" charset="-127"/>
                <a:ea typeface="나눔스퀘어 네오 Light" panose="00000400000000000000" pitchFamily="2" charset="-127"/>
                <a:cs typeface="맑은 고딕 Semilight" panose="020B0502040204020203" pitchFamily="50" charset="-127"/>
              </a:rPr>
              <a:t>ⓒ Multicampus. All rights reserved.</a:t>
            </a:r>
            <a:endParaRPr lang="en-US" altLang="ko-KR" sz="900" kern="0" spc="20" baseline="0" dirty="0">
              <a:gradFill>
                <a:gsLst>
                  <a:gs pos="0">
                    <a:schemeClr val="tx1">
                      <a:alpha val="50000"/>
                    </a:schemeClr>
                  </a:gs>
                  <a:gs pos="100000">
                    <a:schemeClr val="tx1">
                      <a:alpha val="50000"/>
                    </a:schemeClr>
                  </a:gs>
                </a:gsLst>
                <a:lin ang="5400000" scaled="1"/>
              </a:gradFill>
              <a:latin typeface="나눔스퀘어 네오 Light" panose="00000400000000000000" pitchFamily="2" charset="-127"/>
              <a:ea typeface="나눔스퀘어 네오 Light" panose="00000400000000000000" pitchFamily="2" charset="-127"/>
              <a:cs typeface="맑은 고딕 Semilight" panose="020B0502040204020203" pitchFamily="50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xmlns="" id="{269049B6-647F-0559-9033-593A99593D50}"/>
              </a:ext>
            </a:extLst>
          </p:cNvPr>
          <p:cNvSpPr/>
          <p:nvPr userDrawn="1"/>
        </p:nvSpPr>
        <p:spPr>
          <a:xfrm>
            <a:off x="447675" y="457201"/>
            <a:ext cx="4532201" cy="4880012"/>
          </a:xfrm>
          <a:prstGeom prst="roundRect">
            <a:avLst>
              <a:gd name="adj" fmla="val 4785"/>
            </a:avLst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60000"/>
                </a:schemeClr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 defTabSz="897392" latinLnBrk="1"/>
            <a:endParaRPr lang="ko-KR" altLang="en-US" sz="1000" kern="0" spc="100" dirty="0">
              <a:gradFill>
                <a:gsLst>
                  <a:gs pos="0">
                    <a:prstClr val="white"/>
                  </a:gs>
                  <a:gs pos="100000">
                    <a:prstClr val="white"/>
                  </a:gs>
                </a:gsLst>
                <a:lin ang="5400000" scaled="1"/>
              </a:gradFill>
              <a:latin typeface="나눔스퀘어 네오 Bold" panose="00000800000000000000" pitchFamily="2" charset="-127"/>
              <a:ea typeface="나눔스퀘어 네오 Bold" panose="00000800000000000000" pitchFamily="2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545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엔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1FE3DFE2-4D22-6422-6B6D-6DBFE5EA24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" y="428"/>
            <a:ext cx="12191994" cy="685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37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8C29FC6-0F42-153A-6FAA-C317CC365F1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5CEE5406-B6BF-E2AE-E4D4-B3B32844766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7360557"/>
      </p:ext>
    </p:extLst>
  </p:cSld>
  <p:clrMapOvr>
    <a:masterClrMapping/>
  </p:clrMapOvr>
  <p:extLst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518AC362-637A-4D9D-93B7-5878667ABB67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 lvl="0">
                <a:defRPr lang="ko-KR" altLang="en-US"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xmlns="" id="{14F22BCB-CDE0-675C-1DEB-5876615324F9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A2989D87-D4B7-E406-373C-42DA768A893D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485617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type="fourObj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608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6196037" y="3984220"/>
            <a:ext cx="5384800" cy="2196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D8D7A7C4-C82A-4D21-9AB0-F0C5A1D3EF09}" type="datetime1">
              <a:rPr lang="ko-KR" altLang="en-US"/>
              <a:pPr lvl="0">
                <a:defRPr lang="ko-KR" altLang="en-US"/>
              </a:pPr>
              <a:t>2026-09-30</a:t>
            </a:fld>
            <a:endParaRPr lang="ko-KR" altLang="en-US"/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xmlns="" id="{4C8F8BD2-31E3-FD9E-7D01-51659F278750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xmlns="" id="{96DB3818-8C64-CA9A-F9A6-D756D0B0EE9E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0476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9C574F18-80D8-DE0A-3CEC-C90F9B5164C7}"/>
              </a:ext>
            </a:extLst>
          </p:cNvPr>
          <p:cNvCxnSpPr>
            <a:cxnSpLocks/>
          </p:cNvCxnSpPr>
          <p:nvPr userDrawn="1"/>
        </p:nvCxnSpPr>
        <p:spPr>
          <a:xfrm>
            <a:off x="379130" y="728776"/>
            <a:ext cx="10801351" cy="0"/>
          </a:xfrm>
          <a:prstGeom prst="line">
            <a:avLst/>
          </a:prstGeom>
          <a:ln w="25400">
            <a:solidFill>
              <a:srgbClr val="ED1C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xmlns="" id="{71D124E9-E49D-414C-91EE-2D62CE7AFCE4}"/>
              </a:ext>
            </a:extLst>
          </p:cNvPr>
          <p:cNvCxnSpPr>
            <a:cxnSpLocks/>
          </p:cNvCxnSpPr>
          <p:nvPr userDrawn="1"/>
        </p:nvCxnSpPr>
        <p:spPr>
          <a:xfrm>
            <a:off x="1483577" y="728776"/>
            <a:ext cx="1029600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949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761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06" r:id="rId3"/>
    <p:sldLayoutId id="2147483711" r:id="rId4"/>
    <p:sldLayoutId id="2147483712" r:id="rId5"/>
    <p:sldLayoutId id="2147483713" r:id="rId6"/>
    <p:sldLayoutId id="2147483714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pos="267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4110" userDrawn="1">
          <p15:clr>
            <a:srgbClr val="F26B43"/>
          </p15:clr>
        </p15:guide>
        <p15:guide id="4" orient="horz" pos="1003" userDrawn="1">
          <p15:clr>
            <a:srgbClr val="F26B43"/>
          </p15:clr>
        </p15:guide>
      </p15:sldGuideLst>
    </p:ext>
  </p:extLst>
</p:sldMaster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146304"/>
            <a:ext cx="6309360" cy="502920"/>
          </a:xfrm>
          <a:prstGeom prst="rect">
            <a:avLst/>
          </a:prstGeom>
          <a:noFill/>
        </p:spPr>
        <p:txBody>
          <a:bodyPr wrap="square" tIns="91440" bIns="91440" anchor="ctr">
            <a:spAutoFit/>
          </a:bodyPr>
          <a:lstStyle/>
          <a:p>
            <a:pPr algn="l"/>
            <a:r>
              <a:rPr sz="2800" b="0">
                <a:solidFill>
                  <a:srgbClr val="1A1A1A"/>
                </a:solidFill>
                <a:latin typeface="a고딕14"/>
                <a:ea typeface="a고딕14"/>
                <a:cs typeface="a고딕14"/>
              </a:rPr>
              <a:t>3-3. 고객 세그먼트 및 데이터 마케팅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" y="877824"/>
            <a:ext cx="54864" cy="329184"/>
          </a:xfrm>
          <a:prstGeom prst="rect">
            <a:avLst/>
          </a:prstGeom>
          <a:solidFill>
            <a:srgbClr val="E86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822960"/>
            <a:ext cx="7498079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a고딕16"/>
                <a:ea typeface="a고딕16"/>
                <a:cs typeface="a고딕16"/>
              </a:rPr>
              <a:t>실습 ②  세분시장 평가와 표적 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80160"/>
            <a:ext cx="78638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세 개 세그먼트를 같은 기준으로 점수화하고 하나를 고르십시오. 점수의 근거는 DART · 공식 사이트 등 실제 자료로 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5560" y="841248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EE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a고딕16"/>
                <a:ea typeface="a고딕16"/>
                <a:cs typeface="a고딕16"/>
              </a:rPr>
              <a:t>35분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280160"/>
            <a:ext cx="301752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고딕12"/>
                <a:ea typeface="a고딕12"/>
                <a:cs typeface="a고딕12"/>
              </a:rPr>
              <a:t>조 ____________    작성자 ____________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3776" y="1691640"/>
          <a:ext cx="11210544" cy="29626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94560"/>
                <a:gridCol w="1645920"/>
                <a:gridCol w="1645920"/>
                <a:gridCol w="1645920"/>
                <a:gridCol w="4078224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평가 항목 (각 5점)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 A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                    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 B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                    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세그먼트 C</a:t>
                      </a:r>
                    </a:p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(                    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판단 근거 (자료 출처)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시장 규모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성장 잠재력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경쟁 강도 (낮을수록 높은 점수)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자사와의 적합성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수익성 (객단가 · 빈도)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총점 (25점)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" y="4800600"/>
          <a:ext cx="11210543" cy="17556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7440"/>
                <a:gridCol w="731520"/>
                <a:gridCol w="810158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표적화 전략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선택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a고딕16"/>
                          <a:ea typeface="a고딕16"/>
                          <a:cs typeface="a고딕16"/>
                        </a:rPr>
                        <a:t>이 전략을 고른 이유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CE9E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비차별적 · 전체를 하나로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차별적 · 여러 세그먼트에 각각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집중 · 하나에 자원 몰기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1A1A"/>
                          </a:solidFill>
                          <a:latin typeface="a고딕14"/>
                          <a:ea typeface="a고딕14"/>
                          <a:cs typeface="a고딕14"/>
                        </a:rPr>
                        <a:t>□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FCFCF"/>
                      </a:solidFill>
                      <a:prstDash val="solid"/>
                    </a:lnL>
                    <a:lnR w="9525" cap="flat" cmpd="sng" algn="ctr">
                      <a:solidFill>
                        <a:srgbClr val="CFCFCF"/>
                      </a:solidFill>
                      <a:prstDash val="solid"/>
                    </a:lnR>
                    <a:lnT w="9525" cap="flat" cmpd="sng" algn="ctr">
                      <a:solidFill>
                        <a:srgbClr val="CFCFCF"/>
                      </a:solidFill>
                      <a:prstDash val="solid"/>
                    </a:lnT>
                    <a:lnB w="9525" cap="flat" cmpd="sng" algn="ctr">
                      <a:solidFill>
                        <a:srgbClr val="CFCFC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네오">
      <a:majorFont>
        <a:latin typeface="나눔스퀘어 네오 ExtraBold"/>
        <a:ea typeface="나눔스퀘어 네오 ExtraBold"/>
        <a:cs typeface=""/>
      </a:majorFont>
      <a:minorFont>
        <a:latin typeface="나눔스퀘어 네오 Bold"/>
        <a:ea typeface="나눔스퀘어 네오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12262</TotalTime>
  <Words>28626</Words>
  <Application>Microsoft Office PowerPoint</Application>
  <PresentationFormat>사용자 지정</PresentationFormat>
  <Paragraphs>4679</Paragraphs>
  <Slides>186</Slides>
  <Notes>146</Notes>
  <HiddenSlides>72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0</vt:i4>
      </vt:variant>
      <vt:variant>
        <vt:lpstr>슬라이드 제목</vt:lpstr>
      </vt:variant>
      <vt:variant>
        <vt:i4>186</vt:i4>
      </vt:variant>
    </vt:vector>
  </HeadingPairs>
  <TitlesOfParts>
    <vt:vector size="18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귀사 제품의 포지셔닝은 어떻게 되어 있습니까?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이정원</dc:creator>
  <cp:lastModifiedBy>LG</cp:lastModifiedBy>
  <cp:revision>735</cp:revision>
  <dcterms:created xsi:type="dcterms:W3CDTF">2023-03-30T02:09:27Z</dcterms:created>
  <dcterms:modified xsi:type="dcterms:W3CDTF">2026-09-29T17:04:43Z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